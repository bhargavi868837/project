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2" r:id="rId1"/>
  </p:sldMasterIdLst>
  <p:notesMasterIdLst>
    <p:notesMasterId r:id="rId32"/>
  </p:notesMasterIdLst>
  <p:sldIdLst>
    <p:sldId id="272" r:id="rId2"/>
    <p:sldId id="257" r:id="rId3"/>
    <p:sldId id="258" r:id="rId4"/>
    <p:sldId id="273" r:id="rId5"/>
    <p:sldId id="274" r:id="rId6"/>
    <p:sldId id="275" r:id="rId7"/>
    <p:sldId id="276" r:id="rId8"/>
    <p:sldId id="287" r:id="rId9"/>
    <p:sldId id="288" r:id="rId10"/>
    <p:sldId id="278" r:id="rId11"/>
    <p:sldId id="279" r:id="rId12"/>
    <p:sldId id="297" r:id="rId13"/>
    <p:sldId id="285" r:id="rId14"/>
    <p:sldId id="281" r:id="rId15"/>
    <p:sldId id="280" r:id="rId16"/>
    <p:sldId id="283" r:id="rId17"/>
    <p:sldId id="282" r:id="rId18"/>
    <p:sldId id="289" r:id="rId19"/>
    <p:sldId id="290" r:id="rId20"/>
    <p:sldId id="291" r:id="rId21"/>
    <p:sldId id="292" r:id="rId22"/>
    <p:sldId id="296" r:id="rId23"/>
    <p:sldId id="295" r:id="rId24"/>
    <p:sldId id="293" r:id="rId25"/>
    <p:sldId id="299" r:id="rId26"/>
    <p:sldId id="300" r:id="rId27"/>
    <p:sldId id="294" r:id="rId28"/>
    <p:sldId id="298" r:id="rId29"/>
    <p:sldId id="277" r:id="rId30"/>
    <p:sldId id="27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48" autoAdjust="0"/>
    <p:restoredTop sz="93634" autoAdjust="0"/>
  </p:normalViewPr>
  <p:slideViewPr>
    <p:cSldViewPr snapToGrid="0">
      <p:cViewPr>
        <p:scale>
          <a:sx n="66" d="100"/>
          <a:sy n="66" d="100"/>
        </p:scale>
        <p:origin x="912"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488882-20DC-46DB-9378-D634C3F72A22}" type="datetimeFigureOut">
              <a:rPr lang="en-IN" smtClean="0"/>
              <a:t>28-04-2026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5EB19-DE6A-4ABF-9A41-8268A172631B}" type="slidenum">
              <a:rPr lang="en-IN" smtClean="0"/>
              <a:t>‹#›</a:t>
            </a:fld>
            <a:endParaRPr lang="en-IN"/>
          </a:p>
        </p:txBody>
      </p:sp>
    </p:spTree>
    <p:extLst>
      <p:ext uri="{BB962C8B-B14F-4D97-AF65-F5344CB8AC3E}">
        <p14:creationId xmlns:p14="http://schemas.microsoft.com/office/powerpoint/2010/main" val="3096377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75EB19-DE6A-4ABF-9A41-8268A172631B}" type="slidenum">
              <a:rPr lang="en-IN" smtClean="0"/>
              <a:t>3</a:t>
            </a:fld>
            <a:endParaRPr lang="en-IN"/>
          </a:p>
        </p:txBody>
      </p:sp>
    </p:spTree>
    <p:extLst>
      <p:ext uri="{BB962C8B-B14F-4D97-AF65-F5344CB8AC3E}">
        <p14:creationId xmlns:p14="http://schemas.microsoft.com/office/powerpoint/2010/main" val="1419675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a:p>
            <a:endParaRPr lang="en-IN" dirty="0"/>
          </a:p>
          <a:p>
            <a:endParaRPr lang="en-IN" dirty="0"/>
          </a:p>
          <a:p>
            <a:endParaRPr lang="en-IN" dirty="0"/>
          </a:p>
          <a:p>
            <a:endParaRPr lang="en-IN" dirty="0"/>
          </a:p>
        </p:txBody>
      </p:sp>
      <p:sp>
        <p:nvSpPr>
          <p:cNvPr id="4" name="Slide Number Placeholder 3"/>
          <p:cNvSpPr>
            <a:spLocks noGrp="1"/>
          </p:cNvSpPr>
          <p:nvPr>
            <p:ph type="sldNum" sz="quarter" idx="5"/>
          </p:nvPr>
        </p:nvSpPr>
        <p:spPr/>
        <p:txBody>
          <a:bodyPr/>
          <a:lstStyle/>
          <a:p>
            <a:fld id="{FB75EB19-DE6A-4ABF-9A41-8268A172631B}" type="slidenum">
              <a:rPr lang="en-IN" smtClean="0"/>
              <a:t>30</a:t>
            </a:fld>
            <a:endParaRPr lang="en-IN"/>
          </a:p>
        </p:txBody>
      </p:sp>
    </p:spTree>
    <p:extLst>
      <p:ext uri="{BB962C8B-B14F-4D97-AF65-F5344CB8AC3E}">
        <p14:creationId xmlns:p14="http://schemas.microsoft.com/office/powerpoint/2010/main" val="1404540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611240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3988860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3364192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0DFBE5-16F3-4896-A28F-BB4691117378}"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3950197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0DFBE5-16F3-4896-A28F-BB4691117378}" type="datetimeFigureOut">
              <a:rPr lang="en-IN" smtClean="0"/>
              <a:t>28-04-2026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749822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0DFBE5-16F3-4896-A28F-BB4691117378}" type="datetimeFigureOut">
              <a:rPr lang="en-IN" smtClean="0"/>
              <a:t>28-04-2026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2957701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0DFBE5-16F3-4896-A28F-BB4691117378}" type="datetimeFigureOut">
              <a:rPr lang="en-IN" smtClean="0"/>
              <a:t>28-04-2026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286021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0DFBE5-16F3-4896-A28F-BB4691117378}"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2071137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0DFBE5-16F3-4896-A28F-BB4691117378}"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1333003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3696889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80585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588415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2946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3616673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2727495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0DFBE5-16F3-4896-A28F-BB4691117378}"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FCF8C-98A7-4DC7-9B4A-BF6F635AD78F}" type="slidenum">
              <a:rPr lang="en-IN" smtClean="0"/>
              <a:t>‹#›</a:t>
            </a:fld>
            <a:endParaRPr lang="en-IN"/>
          </a:p>
        </p:txBody>
      </p:sp>
    </p:spTree>
    <p:extLst>
      <p:ext uri="{BB962C8B-B14F-4D97-AF65-F5344CB8AC3E}">
        <p14:creationId xmlns:p14="http://schemas.microsoft.com/office/powerpoint/2010/main" val="267951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A0DFBE5-16F3-4896-A28F-BB4691117378}" type="datetimeFigureOut">
              <a:rPr lang="en-IN" smtClean="0"/>
              <a:t>28-04-2026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49FCF8C-98A7-4DC7-9B4A-BF6F635AD78F}" type="slidenum">
              <a:rPr lang="en-IN" smtClean="0"/>
              <a:t>‹#›</a:t>
            </a:fld>
            <a:endParaRPr lang="en-IN"/>
          </a:p>
        </p:txBody>
      </p:sp>
    </p:spTree>
    <p:extLst>
      <p:ext uri="{BB962C8B-B14F-4D97-AF65-F5344CB8AC3E}">
        <p14:creationId xmlns:p14="http://schemas.microsoft.com/office/powerpoint/2010/main" val="2669798723"/>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74" r:id="rId12"/>
    <p:sldLayoutId id="2147483975" r:id="rId13"/>
    <p:sldLayoutId id="2147483976" r:id="rId14"/>
    <p:sldLayoutId id="2147483977" r:id="rId15"/>
    <p:sldLayoutId id="214748397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8ADBB-9D35-DE6F-0603-7AE4B12A1E53}"/>
              </a:ext>
            </a:extLst>
          </p:cNvPr>
          <p:cNvSpPr>
            <a:spLocks noGrp="1"/>
          </p:cNvSpPr>
          <p:nvPr>
            <p:ph type="title"/>
          </p:nvPr>
        </p:nvSpPr>
        <p:spPr>
          <a:xfrm>
            <a:off x="2380594" y="609599"/>
            <a:ext cx="7604064" cy="1682870"/>
          </a:xfrm>
        </p:spPr>
        <p:txBody>
          <a:bodyPr>
            <a:normAutofit fontScale="90000"/>
          </a:bodyPr>
          <a:lstStyle/>
          <a:p>
            <a:pPr algn="ctr"/>
            <a:r>
              <a:rPr lang="en-US" sz="2200" dirty="0">
                <a:solidFill>
                  <a:schemeClr val="bg2">
                    <a:lumMod val="25000"/>
                  </a:schemeClr>
                </a:solidFill>
                <a:latin typeface="Times New Roman" panose="02020603050405020304" pitchFamily="18" charset="0"/>
                <a:cs typeface="Times New Roman" panose="02020603050405020304" pitchFamily="18" charset="0"/>
              </a:rPr>
              <a:t>DEPARTMENT OF COMPUTER SCIENCE AND ENGINEERING</a:t>
            </a:r>
            <a:br>
              <a:rPr lang="en-US" sz="2200" dirty="0">
                <a:solidFill>
                  <a:schemeClr val="tx1">
                    <a:lumMod val="85000"/>
                    <a:lumOff val="15000"/>
                  </a:schemeClr>
                </a:solidFill>
                <a:latin typeface="Times New Roman" panose="02020603050405020304" pitchFamily="18" charset="0"/>
                <a:cs typeface="Times New Roman" panose="02020603050405020304" pitchFamily="18" charset="0"/>
              </a:rPr>
            </a:br>
            <a:br>
              <a:rPr lang="en-US" sz="2200" dirty="0">
                <a:solidFill>
                  <a:schemeClr val="tx1">
                    <a:lumMod val="85000"/>
                    <a:lumOff val="15000"/>
                  </a:schemeClr>
                </a:solidFill>
                <a:latin typeface="Times New Roman" panose="02020603050405020304" pitchFamily="18" charset="0"/>
                <a:cs typeface="Times New Roman" panose="02020603050405020304" pitchFamily="18" charset="0"/>
              </a:rPr>
            </a:br>
            <a:r>
              <a:rPr lang="en-US" sz="2700" dirty="0">
                <a:solidFill>
                  <a:schemeClr val="tx2">
                    <a:lumMod val="60000"/>
                    <a:lumOff val="40000"/>
                  </a:schemeClr>
                </a:solidFill>
                <a:latin typeface="Times New Roman" panose="02020603050405020304" pitchFamily="18" charset="0"/>
                <a:cs typeface="Times New Roman" panose="02020603050405020304" pitchFamily="18" charset="0"/>
              </a:rPr>
              <a:t>SCHOOL OF ENGINEERING AND TECHNOLOGY</a:t>
            </a:r>
            <a:br>
              <a:rPr lang="en-US" sz="2700" dirty="0">
                <a:solidFill>
                  <a:schemeClr val="tx2">
                    <a:lumMod val="60000"/>
                    <a:lumOff val="40000"/>
                  </a:schemeClr>
                </a:solidFill>
                <a:latin typeface="Times New Roman" panose="02020603050405020304" pitchFamily="18" charset="0"/>
                <a:cs typeface="Times New Roman" panose="02020603050405020304" pitchFamily="18" charset="0"/>
              </a:rPr>
            </a:br>
            <a:r>
              <a:rPr lang="en-US" sz="2700" dirty="0">
                <a:solidFill>
                  <a:schemeClr val="tx2"/>
                </a:solidFill>
                <a:latin typeface="Times New Roman" panose="02020603050405020304" pitchFamily="18" charset="0"/>
                <a:cs typeface="Times New Roman" panose="02020603050405020304" pitchFamily="18" charset="0"/>
              </a:rPr>
              <a:t>  </a:t>
            </a:r>
            <a:br>
              <a:rPr lang="en-US" sz="2700" dirty="0">
                <a:solidFill>
                  <a:schemeClr val="tx2"/>
                </a:solidFill>
                <a:latin typeface="Times New Roman" panose="02020603050405020304" pitchFamily="18" charset="0"/>
                <a:cs typeface="Times New Roman" panose="02020603050405020304" pitchFamily="18" charset="0"/>
              </a:rPr>
            </a:br>
            <a:r>
              <a:rPr lang="en-US" sz="2200" dirty="0">
                <a:solidFill>
                  <a:schemeClr val="bg2">
                    <a:lumMod val="25000"/>
                  </a:schemeClr>
                </a:solidFill>
                <a:latin typeface="Times New Roman" panose="02020603050405020304" pitchFamily="18" charset="0"/>
                <a:cs typeface="Times New Roman" panose="02020603050405020304" pitchFamily="18" charset="0"/>
              </a:rPr>
              <a:t>SRI PADMAVATI MAHILA VISVAVIDYALAYAM</a:t>
            </a:r>
            <a:br>
              <a:rPr lang="en-US" sz="2200" dirty="0">
                <a:solidFill>
                  <a:schemeClr val="bg2">
                    <a:lumMod val="25000"/>
                  </a:schemeClr>
                </a:solidFill>
                <a:latin typeface="Times New Roman" panose="02020603050405020304" pitchFamily="18" charset="0"/>
                <a:cs typeface="Times New Roman" panose="02020603050405020304" pitchFamily="18" charset="0"/>
              </a:rPr>
            </a:br>
            <a:endParaRPr lang="en-IN" sz="2200" dirty="0">
              <a:solidFill>
                <a:schemeClr val="bg2">
                  <a:lumMod val="25000"/>
                </a:schemeClr>
              </a:solidFill>
            </a:endParaRPr>
          </a:p>
        </p:txBody>
      </p:sp>
      <p:pic>
        <p:nvPicPr>
          <p:cNvPr id="4" name="Picture 2" descr="Sri Padmavati Mahila Visvavidyalayam - Wikipedia">
            <a:extLst>
              <a:ext uri="{FF2B5EF4-FFF2-40B4-BE49-F238E27FC236}">
                <a16:creationId xmlns:a16="http://schemas.microsoft.com/office/drawing/2014/main" id="{8583AED2-E410-DBCC-1816-7B75748A44A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3961" y="353960"/>
            <a:ext cx="2315497" cy="207498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464BA97-72BE-EB59-B15F-6589B30918C8}"/>
              </a:ext>
            </a:extLst>
          </p:cNvPr>
          <p:cNvSpPr txBox="1"/>
          <p:nvPr/>
        </p:nvSpPr>
        <p:spPr>
          <a:xfrm>
            <a:off x="565353" y="2721457"/>
            <a:ext cx="9419305" cy="1200329"/>
          </a:xfrm>
          <a:prstGeom prst="rect">
            <a:avLst/>
          </a:prstGeom>
          <a:noFill/>
        </p:spPr>
        <p:txBody>
          <a:bodyPr wrap="square" rtlCol="0">
            <a:spAutoFit/>
          </a:bodyPr>
          <a:lstStyle/>
          <a:p>
            <a:pPr algn="ctr"/>
            <a:r>
              <a:rPr lang="en-US" sz="3600" dirty="0">
                <a:solidFill>
                  <a:schemeClr val="bg2">
                    <a:lumMod val="10000"/>
                  </a:schemeClr>
                </a:solidFill>
                <a:latin typeface="Times New Roman" panose="02020603050405020304" pitchFamily="18" charset="0"/>
                <a:cs typeface="Times New Roman" panose="02020603050405020304" pitchFamily="18" charset="0"/>
              </a:rPr>
              <a:t>AN ENSEMBLE LEARNING APPROACH FOR IMPROVED SLEEP DISORDER PREDICTION</a:t>
            </a:r>
            <a:endParaRPr lang="en-IN" sz="3600"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ECF4023-B4FC-7131-D6BA-13CFC35E06C4}"/>
              </a:ext>
            </a:extLst>
          </p:cNvPr>
          <p:cNvSpPr txBox="1"/>
          <p:nvPr/>
        </p:nvSpPr>
        <p:spPr>
          <a:xfrm>
            <a:off x="545689" y="5161936"/>
            <a:ext cx="10028905" cy="1692771"/>
          </a:xfrm>
          <a:prstGeom prst="rect">
            <a:avLst/>
          </a:prstGeom>
          <a:noFill/>
        </p:spPr>
        <p:txBody>
          <a:bodyPr wrap="square" rtlCol="0">
            <a:spAutoFit/>
          </a:bodyPr>
          <a:lstStyle/>
          <a:p>
            <a:r>
              <a:rPr lang="en-US" sz="1600" dirty="0">
                <a:solidFill>
                  <a:schemeClr val="tx1">
                    <a:lumMod val="95000"/>
                    <a:lumOff val="5000"/>
                  </a:schemeClr>
                </a:solidFill>
              </a:rPr>
              <a:t>       </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Guide:                                                                                                    Co-Guide:                                                            </a:t>
            </a:r>
            <a:r>
              <a:rPr lang="en-US" dirty="0">
                <a:solidFill>
                  <a:schemeClr val="accent4">
                    <a:lumMod val="75000"/>
                  </a:schemeClr>
                </a:solidFill>
                <a:latin typeface="Times New Roman" panose="02020603050405020304" pitchFamily="18" charset="0"/>
                <a:cs typeface="Times New Roman" panose="02020603050405020304" pitchFamily="18" charset="0"/>
              </a:rPr>
              <a:t>                  G. Sreehitha, M. Tech.,(</a:t>
            </a:r>
            <a:r>
              <a:rPr lang="en-US" dirty="0" err="1">
                <a:solidFill>
                  <a:schemeClr val="accent4">
                    <a:lumMod val="75000"/>
                  </a:schemeClr>
                </a:solidFill>
                <a:latin typeface="Times New Roman" panose="02020603050405020304" pitchFamily="18" charset="0"/>
                <a:cs typeface="Times New Roman" panose="02020603050405020304" pitchFamily="18" charset="0"/>
              </a:rPr>
              <a:t>Ph.D</a:t>
            </a:r>
            <a:r>
              <a:rPr lang="en-US" dirty="0">
                <a:solidFill>
                  <a:schemeClr val="accent4">
                    <a:lumMod val="75000"/>
                  </a:schemeClr>
                </a:solidFill>
                <a:latin typeface="Times New Roman" panose="02020603050405020304" pitchFamily="18" charset="0"/>
                <a:cs typeface="Times New Roman" panose="02020603050405020304" pitchFamily="18" charset="0"/>
              </a:rPr>
              <a:t>)                                              G. Radhika, M. Tech.,(Ph. D)                                                                           Assistant Professor,                                                                      Assistant Professor,</a:t>
            </a:r>
          </a:p>
          <a:p>
            <a:r>
              <a:rPr lang="en-US" dirty="0">
                <a:solidFill>
                  <a:schemeClr val="accent4">
                    <a:lumMod val="75000"/>
                  </a:schemeClr>
                </a:solidFill>
                <a:latin typeface="Times New Roman" panose="02020603050405020304" pitchFamily="18" charset="0"/>
                <a:cs typeface="Times New Roman" panose="02020603050405020304" pitchFamily="18" charset="0"/>
              </a:rPr>
              <a:t>CSE, SOET, SPMVV                                                                CSE, SOET, SPMVV</a:t>
            </a:r>
          </a:p>
          <a:p>
            <a:endParaRPr lang="en-IN" sz="1600" dirty="0"/>
          </a:p>
        </p:txBody>
      </p:sp>
      <p:sp>
        <p:nvSpPr>
          <p:cNvPr id="3" name="TextBox 2">
            <a:extLst>
              <a:ext uri="{FF2B5EF4-FFF2-40B4-BE49-F238E27FC236}">
                <a16:creationId xmlns:a16="http://schemas.microsoft.com/office/drawing/2014/main" id="{D2D60C01-FE8D-3A86-A556-6AC14DBA4631}"/>
              </a:ext>
            </a:extLst>
          </p:cNvPr>
          <p:cNvSpPr txBox="1"/>
          <p:nvPr/>
        </p:nvSpPr>
        <p:spPr>
          <a:xfrm>
            <a:off x="7669161" y="4350774"/>
            <a:ext cx="2433701" cy="646331"/>
          </a:xfrm>
          <a:prstGeom prst="rect">
            <a:avLst/>
          </a:prstGeom>
          <a:noFill/>
        </p:spPr>
        <p:txBody>
          <a:bodyPr wrap="square" rtlCol="0">
            <a:spAutoFit/>
          </a:bodyPr>
          <a:lstStyle/>
          <a:p>
            <a:r>
              <a:rPr lang="en-US" dirty="0">
                <a:solidFill>
                  <a:schemeClr val="accent4">
                    <a:lumMod val="75000"/>
                  </a:schemeClr>
                </a:solidFill>
                <a:latin typeface="Times New Roman" panose="02020603050405020304" pitchFamily="18" charset="0"/>
                <a:cs typeface="Times New Roman" panose="02020603050405020304" pitchFamily="18" charset="0"/>
              </a:rPr>
              <a:t>    Presented by</a:t>
            </a:r>
          </a:p>
          <a:p>
            <a:r>
              <a:rPr lang="en-US" dirty="0">
                <a:solidFill>
                  <a:schemeClr val="accent4">
                    <a:lumMod val="75000"/>
                  </a:schemeClr>
                </a:solidFill>
                <a:latin typeface="Times New Roman" panose="02020603050405020304" pitchFamily="18" charset="0"/>
                <a:cs typeface="Times New Roman" panose="02020603050405020304" pitchFamily="18" charset="0"/>
              </a:rPr>
              <a:t>            Peram Bhargavi</a:t>
            </a:r>
            <a:endParaRPr lang="en-IN" dirty="0"/>
          </a:p>
        </p:txBody>
      </p:sp>
    </p:spTree>
    <p:extLst>
      <p:ext uri="{BB962C8B-B14F-4D97-AF65-F5344CB8AC3E}">
        <p14:creationId xmlns:p14="http://schemas.microsoft.com/office/powerpoint/2010/main" val="1617495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AC403-D6BA-18C0-1396-C6937BA20213}"/>
              </a:ext>
            </a:extLst>
          </p:cNvPr>
          <p:cNvSpPr>
            <a:spLocks noGrp="1"/>
          </p:cNvSpPr>
          <p:nvPr>
            <p:ph type="title"/>
          </p:nvPr>
        </p:nvSpPr>
        <p:spPr>
          <a:xfrm>
            <a:off x="677334" y="609600"/>
            <a:ext cx="8596668" cy="5431762"/>
          </a:xfrm>
        </p:spPr>
        <p:txBody>
          <a:bodyPr>
            <a:normAutofit/>
          </a:bodyPr>
          <a:lstStyle/>
          <a:p>
            <a:r>
              <a:rPr lang="en-US" sz="4000" b="1" dirty="0">
                <a:latin typeface="Times New Roman" panose="02020603050405020304" pitchFamily="18" charset="0"/>
                <a:cs typeface="Times New Roman" panose="02020603050405020304" pitchFamily="18" charset="0"/>
              </a:rPr>
              <a:t>Contents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B6ED67-EF32-DD43-9FEA-D302F31FC13B}"/>
              </a:ext>
            </a:extLst>
          </p:cNvPr>
          <p:cNvSpPr>
            <a:spLocks noGrp="1"/>
          </p:cNvSpPr>
          <p:nvPr>
            <p:ph idx="1"/>
          </p:nvPr>
        </p:nvSpPr>
        <p:spPr>
          <a:xfrm>
            <a:off x="677334" y="1576552"/>
            <a:ext cx="8596668" cy="4808481"/>
          </a:xfrm>
        </p:spPr>
        <p:txBody>
          <a:bodyPr>
            <a:normAutofit fontScale="92500" lnSpcReduction="20000"/>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Abstract</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Literature Survey</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Existing System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Proposed System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Architecture</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Module Description</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Hardware and Software Requirements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UML Diagrams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Outputs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References</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87917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4A6DC-1B96-2F91-8C75-7D238B0D689A}"/>
              </a:ext>
            </a:extLst>
          </p:cNvPr>
          <p:cNvSpPr>
            <a:spLocks noGrp="1"/>
          </p:cNvSpPr>
          <p:nvPr>
            <p:ph type="title"/>
          </p:nvPr>
        </p:nvSpPr>
        <p:spPr>
          <a:xfrm>
            <a:off x="677334" y="609600"/>
            <a:ext cx="8596668" cy="935421"/>
          </a:xfrm>
        </p:spPr>
        <p:txBody>
          <a:bodyPr>
            <a:normAutofit/>
          </a:bodyPr>
          <a:lstStyle/>
          <a:p>
            <a:r>
              <a:rPr lang="en-US" sz="4000" b="1" dirty="0">
                <a:latin typeface="Times New Roman" panose="02020603050405020304" pitchFamily="18" charset="0"/>
                <a:cs typeface="Times New Roman" panose="02020603050405020304" pitchFamily="18" charset="0"/>
              </a:rPr>
              <a:t>Abstract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96E5CE-9A1D-AE06-17D5-50479BAF4C32}"/>
              </a:ext>
            </a:extLst>
          </p:cNvPr>
          <p:cNvSpPr>
            <a:spLocks noGrp="1"/>
          </p:cNvSpPr>
          <p:nvPr>
            <p:ph idx="1"/>
          </p:nvPr>
        </p:nvSpPr>
        <p:spPr>
          <a:xfrm>
            <a:off x="677334" y="1545021"/>
            <a:ext cx="8596668" cy="4496341"/>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	Sleep disorders can harm both physical and mental health, but traditional diagnostic methods like Polysomnography (PSG) are costly, uncomfortable, and not easily available. The system collects user inputs such as age, occupation, sleep duration, caffeine intake, blood pressure, heart rate, BMI category, snoring frequency, working hours and health-related data to predict possible sleep disorders.  This study aims to develop a more accessible and accurate method for detecting sleep disorders using machine learning techniques. Instead of relying on single models such as K-Nearest Neighbours (KNN), Support Vector Machine (SVM), and Random Forest. We combine multiple models using ensemble techniques like Stacking or Voting Classifiers. The system shows better performance in identifying sleep disorders. The model is integrated into a mobile application to provide a fast, cost-effective, and user-friendly tool for detecting sleep disorders. This approach offers a practical alternative to traditional tests and may help improve patient outcomes.</a:t>
            </a:r>
          </a:p>
          <a:p>
            <a:pPr marL="0" indent="0" algn="just">
              <a:buNone/>
            </a:pPr>
            <a:r>
              <a:rPr lang="en-IN" b="1" dirty="0">
                <a:latin typeface="Times New Roman" panose="02020603050405020304" pitchFamily="18" charset="0"/>
                <a:cs typeface="Times New Roman" panose="02020603050405020304" pitchFamily="18" charset="0"/>
              </a:rPr>
              <a:t>Keywords: </a:t>
            </a:r>
            <a:r>
              <a:rPr lang="en-IN" dirty="0">
                <a:latin typeface="Times New Roman" panose="02020603050405020304" pitchFamily="18" charset="0"/>
                <a:cs typeface="Times New Roman" panose="02020603050405020304" pitchFamily="18" charset="0"/>
              </a:rPr>
              <a:t>Sleep Disorders, Machine Learning, Ensemble Learning, Voting Classifiers, Mobile Application.</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sz="2900" dirty="0">
              <a:latin typeface="Times New Roman" panose="02020603050405020304" pitchFamily="18" charset="0"/>
              <a:cs typeface="Times New Roman" panose="02020603050405020304" pitchFamily="18" charset="0"/>
            </a:endParaRPr>
          </a:p>
          <a:p>
            <a:pPr marL="0" indent="0">
              <a:buNone/>
            </a:pPr>
            <a:endParaRPr lang="en-IN" sz="2900" strike="sngStrike" dirty="0">
              <a:latin typeface="Times New Roman" panose="02020603050405020304" pitchFamily="18" charset="0"/>
              <a:cs typeface="Times New Roman" panose="02020603050405020304" pitchFamily="18" charset="0"/>
            </a:endParaRPr>
          </a:p>
          <a:p>
            <a:pPr marL="0" indent="0" algn="just">
              <a:buNone/>
            </a:pPr>
            <a:endParaRPr lang="en-US" sz="29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817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D8E30-BAED-B882-7F4B-8D8DD01795A7}"/>
              </a:ext>
            </a:extLst>
          </p:cNvPr>
          <p:cNvSpPr>
            <a:spLocks noGrp="1"/>
          </p:cNvSpPr>
          <p:nvPr>
            <p:ph type="title"/>
          </p:nvPr>
        </p:nvSpPr>
        <p:spPr>
          <a:xfrm>
            <a:off x="677334" y="609600"/>
            <a:ext cx="8596668" cy="703006"/>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D3ED77-CF0F-0DA8-54D6-1AC361A2B4F5}"/>
              </a:ext>
            </a:extLst>
          </p:cNvPr>
          <p:cNvSpPr>
            <a:spLocks noGrp="1"/>
          </p:cNvSpPr>
          <p:nvPr>
            <p:ph idx="1"/>
          </p:nvPr>
        </p:nvSpPr>
        <p:spPr>
          <a:xfrm>
            <a:off x="677334" y="1666568"/>
            <a:ext cx="8596668" cy="4374795"/>
          </a:xfrm>
        </p:spPr>
        <p:txBody>
          <a:bodyPr>
            <a:normAutofit fontScale="25000" lnSpcReduction="20000"/>
          </a:bodyPr>
          <a:lstStyle/>
          <a:p>
            <a:pPr algn="just"/>
            <a:r>
              <a:rPr lang="en-US" sz="7200" dirty="0">
                <a:latin typeface="Times New Roman" panose="02020603050405020304" pitchFamily="18" charset="0"/>
                <a:cs typeface="Times New Roman" panose="02020603050405020304" pitchFamily="18" charset="0"/>
              </a:rPr>
              <a:t>Sleep is essential for maintaining good physical health, mental stability, and daily performance, but traditional diagnostic methods like Polysomnography (PSG) are costly, uncomfortable, and not easily available. This makes diagnosis difficult, especially for people in rural or low-resource areas.</a:t>
            </a:r>
          </a:p>
          <a:p>
            <a:pPr algn="just"/>
            <a:r>
              <a:rPr lang="en-US" sz="7200" dirty="0">
                <a:latin typeface="Times New Roman" panose="02020603050405020304" pitchFamily="18" charset="0"/>
                <a:cs typeface="Times New Roman" panose="02020603050405020304" pitchFamily="18" charset="0"/>
              </a:rPr>
              <a:t>To address these challenges, this project uses machine learning to provide a simpler and more accessible method for identifying sleep disorders. By analysing basic health and lifestyle information, machine learning models can quickly predict whether a person is likely to have a disorder.</a:t>
            </a:r>
          </a:p>
          <a:p>
            <a:pPr algn="just"/>
            <a:r>
              <a:rPr lang="en-US" sz="7200" dirty="0">
                <a:latin typeface="Times New Roman" panose="02020603050405020304" pitchFamily="18" charset="0"/>
                <a:cs typeface="Times New Roman" panose="02020603050405020304" pitchFamily="18" charset="0"/>
              </a:rPr>
              <a:t>While individual models such as KNN, SVM and Random Forest provide good results, they often vary in accuracy and stability. Therefore, our project uses ensemble learning techniques—specifically Stacking or Voting Classifiers—which combine multiple models to produce more reliable and accurate predictions.</a:t>
            </a:r>
          </a:p>
          <a:p>
            <a:pPr algn="just"/>
            <a:r>
              <a:rPr lang="en-US" sz="7200" dirty="0">
                <a:latin typeface="Times New Roman" panose="02020603050405020304" pitchFamily="18" charset="0"/>
                <a:cs typeface="Times New Roman" panose="02020603050405020304" pitchFamily="18" charset="0"/>
              </a:rPr>
              <a:t>The system is enabling it to learn important patterns related to sleep health. To increase usability, the final model is integrated into a mobile application, allowing users to enter their data and receive instant predictions anytime, anywhere.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5405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B3EAE-C1CA-1570-63AB-F59BEA3BE4C6}"/>
              </a:ext>
            </a:extLst>
          </p:cNvPr>
          <p:cNvSpPr>
            <a:spLocks noGrp="1"/>
          </p:cNvSpPr>
          <p:nvPr>
            <p:ph type="title"/>
          </p:nvPr>
        </p:nvSpPr>
        <p:spPr>
          <a:xfrm>
            <a:off x="677334" y="609600"/>
            <a:ext cx="8596668" cy="938981"/>
          </a:xfrm>
        </p:spPr>
        <p:txBody>
          <a:bodyPr>
            <a:normAutofit/>
          </a:bodyPr>
          <a:lstStyle/>
          <a:p>
            <a:r>
              <a:rPr lang="en-US" sz="4000" b="1" dirty="0">
                <a:latin typeface="Times New Roman" panose="02020603050405020304" pitchFamily="18" charset="0"/>
                <a:cs typeface="Times New Roman" panose="02020603050405020304" pitchFamily="18" charset="0"/>
              </a:rPr>
              <a:t>Literature Survey</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2CF01B-E990-DB8C-F14F-A40BF8BE4B6B}"/>
              </a:ext>
            </a:extLst>
          </p:cNvPr>
          <p:cNvSpPr>
            <a:spLocks noGrp="1"/>
          </p:cNvSpPr>
          <p:nvPr>
            <p:ph idx="1"/>
          </p:nvPr>
        </p:nvSpPr>
        <p:spPr>
          <a:xfrm>
            <a:off x="677334" y="1696065"/>
            <a:ext cx="8596668" cy="4345297"/>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[1] </a:t>
            </a:r>
            <a:r>
              <a:rPr lang="en-IN" b="1" dirty="0">
                <a:latin typeface="Times New Roman" panose="02020603050405020304" pitchFamily="18" charset="0"/>
                <a:cs typeface="Times New Roman" panose="02020603050405020304" pitchFamily="18" charset="0"/>
              </a:rPr>
              <a:t>Muhammad Mostafa Monowar, S. M. Nuruzzaman Nobel , Maharin Afroj,</a:t>
            </a:r>
            <a:r>
              <a:rPr lang="en-US" b="1" dirty="0">
                <a:latin typeface="Times New Roman" panose="02020603050405020304" pitchFamily="18" charset="0"/>
                <a:cs typeface="Times New Roman" panose="02020603050405020304" pitchFamily="18" charset="0"/>
              </a:rPr>
              <a:t> “Advanced sleep disorder detection using multi-layered ensemble learning and advanced data balancing techniques”,2025.</a:t>
            </a:r>
          </a:p>
          <a:p>
            <a:pPr marL="0" indent="0" algn="just">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existing system aims to detect sleep disorders using single machine learning models, but their accuracy and stability vary and are not fully reliable. The major drawback is that the multi-layer ensemble model is computationally heavy, risks overfitting, and lacks external dataset validation, limiting real-world deployment and generalisation.</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MD Kamal Rasel, Taanzina Afroz Rimi, Mahmuda Rawnak Jahan, Shayla Sharmin “</a:t>
            </a:r>
            <a:r>
              <a:rPr lang="en-US" b="1" dirty="0">
                <a:latin typeface="Times New Roman" panose="02020603050405020304" pitchFamily="18" charset="0"/>
                <a:cs typeface="Times New Roman" panose="02020603050405020304" pitchFamily="18" charset="0"/>
              </a:rPr>
              <a:t>Improving Sleep Disorder Diagnosis Through Optimized Machine Learning Approaches”.</a:t>
            </a:r>
            <a:endParaRPr lang="en-IN"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biggest drawback of this study is that it uses a very small and limited dataset, which reduces the reliability and real-world accuracy of the models.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9422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543CC-2DC7-1C19-F4B3-7108B0D21B9F}"/>
              </a:ext>
            </a:extLst>
          </p:cNvPr>
          <p:cNvSpPr>
            <a:spLocks noGrp="1"/>
          </p:cNvSpPr>
          <p:nvPr>
            <p:ph type="title"/>
          </p:nvPr>
        </p:nvSpPr>
        <p:spPr>
          <a:xfrm>
            <a:off x="677334" y="609600"/>
            <a:ext cx="8596668" cy="682171"/>
          </a:xfrm>
        </p:spPr>
        <p:txBody>
          <a:bodyPr>
            <a:noAutofit/>
          </a:bodyPr>
          <a:lstStyle/>
          <a:p>
            <a:r>
              <a:rPr lang="en-US" sz="4000" b="1" dirty="0">
                <a:latin typeface="Times New Roman" panose="02020603050405020304" pitchFamily="18" charset="0"/>
                <a:cs typeface="Times New Roman" panose="02020603050405020304" pitchFamily="18" charset="0"/>
              </a:rPr>
              <a:t>Cont..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3F7351-902E-639E-4E00-8B0F31F5A53F}"/>
              </a:ext>
            </a:extLst>
          </p:cNvPr>
          <p:cNvSpPr>
            <a:spLocks noGrp="1"/>
          </p:cNvSpPr>
          <p:nvPr>
            <p:ph idx="1"/>
          </p:nvPr>
        </p:nvSpPr>
        <p:spPr>
          <a:xfrm>
            <a:off x="677334" y="1567543"/>
            <a:ext cx="8596668" cy="4473819"/>
          </a:xfrm>
        </p:spPr>
        <p:txBody>
          <a:bodyPr>
            <a:normAutofit fontScale="92500" lnSpcReduction="10000"/>
          </a:bodyPr>
          <a:lstStyle/>
          <a:p>
            <a:pPr marL="0" indent="0" algn="just">
              <a:buNone/>
            </a:pPr>
            <a:r>
              <a:rPr lang="en-US" sz="1900" dirty="0">
                <a:latin typeface="Times New Roman" panose="02020603050405020304" pitchFamily="18" charset="0"/>
                <a:cs typeface="Times New Roman" panose="02020603050405020304" pitchFamily="18" charset="0"/>
              </a:rPr>
              <a:t>[3] </a:t>
            </a:r>
            <a:r>
              <a:rPr lang="en-US" sz="1900" b="1" dirty="0">
                <a:latin typeface="Times New Roman" panose="02020603050405020304" pitchFamily="18" charset="0"/>
                <a:cs typeface="Times New Roman" panose="02020603050405020304" pitchFamily="18" charset="0"/>
              </a:rPr>
              <a:t>C. Tran, Y. Wijesuriya, R. Thuraisingham, A. Craig, &amp; H. Nguyen, "Deep Learning for Classification of Sleep Stages," 2019.</a:t>
            </a:r>
            <a:endParaRPr lang="en-IN" sz="1900" dirty="0">
              <a:latin typeface="Times New Roman" panose="02020603050405020304" pitchFamily="18" charset="0"/>
              <a:cs typeface="Times New Roman" panose="02020603050405020304" pitchFamily="18" charset="0"/>
            </a:endParaRPr>
          </a:p>
          <a:p>
            <a:pPr marL="0" indent="0" algn="just">
              <a:buNone/>
            </a:pPr>
            <a:r>
              <a:rPr lang="en-IN"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This study focuses on the application of deep learning techniques for the classification of sleep stages using EEG data. The authors emphasize the potential of deep learning models to handle complex and high-dimensional sleep data, achieving high classification accuracy. Their approach demonstrates significant improvements over traditional methods, providing a strong foundation for applying deep learning in sleep disorder classification.</a:t>
            </a:r>
            <a:endParaRPr lang="en-IN" sz="1900" dirty="0">
              <a:latin typeface="Times New Roman" panose="02020603050405020304" pitchFamily="18" charset="0"/>
              <a:cs typeface="Times New Roman" panose="02020603050405020304" pitchFamily="18" charset="0"/>
            </a:endParaRPr>
          </a:p>
          <a:p>
            <a:pPr marL="0" indent="0" algn="just">
              <a:buNone/>
            </a:pPr>
            <a:endParaRPr lang="en-IN" sz="1900" dirty="0">
              <a:latin typeface="Times New Roman" panose="02020603050405020304" pitchFamily="18" charset="0"/>
              <a:cs typeface="Times New Roman" panose="02020603050405020304" pitchFamily="18" charset="0"/>
            </a:endParaRPr>
          </a:p>
          <a:p>
            <a:pPr marL="0" indent="0" algn="just">
              <a:buNone/>
            </a:pPr>
            <a:r>
              <a:rPr lang="en-IN" sz="1900" dirty="0">
                <a:latin typeface="Times New Roman" panose="02020603050405020304" pitchFamily="18" charset="0"/>
                <a:cs typeface="Times New Roman" panose="02020603050405020304" pitchFamily="18" charset="0"/>
              </a:rPr>
              <a:t>[4] </a:t>
            </a:r>
            <a:r>
              <a:rPr lang="en-US" sz="1900" b="1" dirty="0">
                <a:latin typeface="Times New Roman" panose="02020603050405020304" pitchFamily="18" charset="0"/>
                <a:cs typeface="Times New Roman" panose="02020603050405020304" pitchFamily="18" charset="0"/>
              </a:rPr>
              <a:t>E. Alickovic &amp; A. Subasi, "Ensemble SVM Method for Automatic Sleep Stage Classification," IEEE Transactions on Instrumentation and Measurement, 2018.</a:t>
            </a:r>
          </a:p>
          <a:p>
            <a:pPr marL="0" indent="0" algn="just">
              <a:buNone/>
            </a:pPr>
            <a:r>
              <a:rPr lang="en-US" sz="1900" b="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This paper discusses the use of ensemble support vector machine (SVM) methods for automatic sleep stage classification. The authors address the challenges of accurately classifying sleep stages and demonstrate the effectiveness of ensemble methods in improving classification accuracy. Their findings highlight the potential of ensemble learning techniques in the field of sleep disorder diagnosis.</a:t>
            </a:r>
            <a:endParaRPr lang="en-IN" sz="19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972755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C977D-A2D0-041C-D4C7-C2C9E29DDE18}"/>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Cont..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3CD08B-5AB1-6CF2-3FDC-BAC6F808E21F}"/>
              </a:ext>
            </a:extLst>
          </p:cNvPr>
          <p:cNvSpPr>
            <a:spLocks noGrp="1"/>
          </p:cNvSpPr>
          <p:nvPr>
            <p:ph idx="1"/>
          </p:nvPr>
        </p:nvSpPr>
        <p:spPr>
          <a:xfrm>
            <a:off x="677334" y="1654629"/>
            <a:ext cx="8596668" cy="4386734"/>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[5</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M. J. Sun, Z. F. Wu, &amp; X. B. Lu, "Sleep Apnea Detection Based on Time and Frequency Domain Analysis of ECG and SpO2 Signals," 2020.</a:t>
            </a:r>
            <a:endParaRPr lang="en-IN" sz="1900" dirty="0">
              <a:latin typeface="Times New Roman" panose="02020603050405020304" pitchFamily="18" charset="0"/>
              <a:cs typeface="Times New Roman" panose="02020603050405020304" pitchFamily="18" charset="0"/>
            </a:endParaRPr>
          </a:p>
          <a:p>
            <a:pPr marL="0" indent="0" algn="just">
              <a:buNone/>
            </a:pPr>
            <a:r>
              <a:rPr lang="en-IN"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The authors propose a method for detecting sleep apnea using time and frequency domain analysis of ECG and SpO2 signals. By applying machine learning algorithms to these physiological signals, they achieve high accuracy in identifying sleep apnea events. This research underscores the importance of utilizing multiple data sources and advanced signal processing techniques for sleep disorder detection.</a:t>
            </a:r>
          </a:p>
          <a:p>
            <a:pPr marL="0" indent="0" algn="just">
              <a:buNone/>
            </a:pPr>
            <a:endParaRPr lang="en-US" sz="1900" dirty="0">
              <a:latin typeface="Times New Roman" panose="02020603050405020304" pitchFamily="18" charset="0"/>
              <a:cs typeface="Times New Roman" panose="02020603050405020304" pitchFamily="18" charset="0"/>
            </a:endParaRPr>
          </a:p>
          <a:p>
            <a:pPr marL="0" indent="0" algn="just">
              <a:buNone/>
            </a:pPr>
            <a:r>
              <a:rPr lang="en-US" sz="1900" dirty="0">
                <a:latin typeface="Times New Roman" panose="02020603050405020304" pitchFamily="18" charset="0"/>
                <a:cs typeface="Times New Roman" panose="02020603050405020304" pitchFamily="18" charset="0"/>
              </a:rPr>
              <a:t>[6]  </a:t>
            </a:r>
            <a:r>
              <a:rPr lang="en-US" sz="1900" b="1" dirty="0">
                <a:latin typeface="Times New Roman" panose="02020603050405020304" pitchFamily="18" charset="0"/>
                <a:cs typeface="Times New Roman" panose="02020603050405020304" pitchFamily="18" charset="0"/>
              </a:rPr>
              <a:t>T. Radha, V. S. Kumar, &amp; S. Pradeep, "Classification of Sleep Disorders Using Machine Learning Algorithms," International Journal of Scientific Research in Computer Science, Engineering and Information Technology, 2019.</a:t>
            </a:r>
            <a:endParaRPr lang="en-IN" sz="1900" dirty="0">
              <a:latin typeface="Times New Roman" panose="02020603050405020304" pitchFamily="18" charset="0"/>
              <a:cs typeface="Times New Roman" panose="02020603050405020304" pitchFamily="18" charset="0"/>
            </a:endParaRPr>
          </a:p>
          <a:p>
            <a:pPr marL="0" indent="0" algn="just">
              <a:buNone/>
            </a:pPr>
            <a:r>
              <a:rPr lang="en-IN"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This study explores various machine learning algorithms for the classification of sleep disorders based on polysomnography (PSG) data. The authors compare the performance of different models, including decision trees, random forests, and neural networks, highlighting the advantages and limitations of each approach. Their results demonstrate the potential of machine learning in enhancing the accuracy and efficiency of sleep disorder diagnosis.</a:t>
            </a:r>
            <a:endParaRPr lang="en-IN" sz="1900"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4740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B66F5-1F08-E1E3-2DF6-FFED55366B35}"/>
              </a:ext>
            </a:extLst>
          </p:cNvPr>
          <p:cNvSpPr>
            <a:spLocks noGrp="1"/>
          </p:cNvSpPr>
          <p:nvPr>
            <p:ph type="title"/>
          </p:nvPr>
        </p:nvSpPr>
        <p:spPr>
          <a:xfrm>
            <a:off x="677334" y="609600"/>
            <a:ext cx="8596668" cy="683172"/>
          </a:xfrm>
        </p:spPr>
        <p:txBody>
          <a:bodyPr/>
          <a:lstStyle/>
          <a:p>
            <a:r>
              <a:rPr lang="en-US" b="1" dirty="0">
                <a:latin typeface="Times New Roman" panose="02020603050405020304" pitchFamily="18" charset="0"/>
                <a:cs typeface="Times New Roman" panose="02020603050405020304" pitchFamily="18" charset="0"/>
              </a:rPr>
              <a:t>Existing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0D8085-44CC-6268-9213-A513DDA35692}"/>
              </a:ext>
            </a:extLst>
          </p:cNvPr>
          <p:cNvSpPr>
            <a:spLocks noGrp="1"/>
          </p:cNvSpPr>
          <p:nvPr>
            <p:ph idx="1"/>
          </p:nvPr>
        </p:nvSpPr>
        <p:spPr>
          <a:xfrm>
            <a:off x="677334" y="1434662"/>
            <a:ext cx="8596668" cy="5044966"/>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	The Existing System relies primarily on costly, complex, and time-consuming clinical procedures, most notably Polysomnography (PSG), conducted in specialised sleep laboratories.</a:t>
            </a:r>
            <a:r>
              <a:rPr lang="en-IN" sz="2000" dirty="0">
                <a:latin typeface="Times New Roman" panose="02020603050405020304" pitchFamily="18" charset="0"/>
                <a:cs typeface="Times New Roman" panose="02020603050405020304" pitchFamily="18" charset="0"/>
              </a:rPr>
              <a:t> This traditional method</a:t>
            </a:r>
            <a:r>
              <a:rPr lang="en-US" sz="2000" dirty="0">
                <a:latin typeface="Times New Roman" panose="02020603050405020304" pitchFamily="18" charset="0"/>
                <a:cs typeface="Times New Roman" panose="02020603050405020304" pitchFamily="18" charset="0"/>
              </a:rPr>
              <a:t> requires extensive setup with sensors, overnight monitoring, and manual analysis by trained specialists. Additionally, earlier machine learning attempts often utilized only a</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single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classifier (like SVM or KNN), which suffers from poor robustness and sensitivity to data imbalances, leading to inconsistent or unreliable predictions. Consequently, both the traditional clinical approach and limited single-model ML systems face severe issues with high cost, low scalability, and limited accessibility, preventing them from serving as effective tools for widespread public health screening.</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lack a user-friendly deployment mechanism like a mobile application, severely limiting public access and making it impractical for widespread public health screening</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4570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6117-42D0-EA09-76B5-7B72463EF666}"/>
              </a:ext>
            </a:extLst>
          </p:cNvPr>
          <p:cNvSpPr>
            <a:spLocks noGrp="1"/>
          </p:cNvSpPr>
          <p:nvPr>
            <p:ph type="title"/>
          </p:nvPr>
        </p:nvSpPr>
        <p:spPr>
          <a:xfrm>
            <a:off x="677334" y="609600"/>
            <a:ext cx="8596668" cy="1219200"/>
          </a:xfrm>
        </p:spPr>
        <p:txBody>
          <a:bodyPr/>
          <a:lstStyle/>
          <a:p>
            <a:r>
              <a:rPr lang="en-US" b="1" dirty="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0089D8C-319A-CFF6-CFE6-6412F3A4B406}"/>
              </a:ext>
            </a:extLst>
          </p:cNvPr>
          <p:cNvSpPr>
            <a:spLocks noGrp="1"/>
          </p:cNvSpPr>
          <p:nvPr>
            <p:ph idx="1"/>
          </p:nvPr>
        </p:nvSpPr>
        <p:spPr>
          <a:xfrm>
            <a:off x="677334" y="1513491"/>
            <a:ext cx="8596668" cy="4527872"/>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	The proposed system aims to provide a more accurate, accessible, and user-friendly solution for detecting sleep disorders using machine learning. Unlike traditional Polysomnography (PSG), which is expensive and inconvenient, this system uses ensemble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learning techniques such as Stacking or Voting Classifiers to combine multiple predictive models, enhancing accuracy, stability, and interpretability. The system processes data as inputs from users, enabling it to detect various sleep disorders efficiently. It is integrated into a mobile application, allowing users to input personal details, track their sleep patterns, and receive instant reports on potential sleep issues. Additionally, the system supports physician interaction, enabling doctors to review the results and recommend treatments or lifestyle adjustments if necessary. By combining machine learning, wearable-compatible data collection, and mobile accessibility, the proposed system provides a fast, cost-effective, and practical alternative to traditional sleep diagnostics, improving early detection and patient care.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8949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D7506-D71C-859C-94A7-AA979A114876}"/>
              </a:ext>
            </a:extLst>
          </p:cNvPr>
          <p:cNvSpPr>
            <a:spLocks noGrp="1"/>
          </p:cNvSpPr>
          <p:nvPr>
            <p:ph type="title"/>
          </p:nvPr>
        </p:nvSpPr>
        <p:spPr>
          <a:xfrm>
            <a:off x="1" y="609600"/>
            <a:ext cx="9274002" cy="644013"/>
          </a:xfrm>
        </p:spPr>
        <p:txBody>
          <a:bodyPr/>
          <a:lstStyle/>
          <a:p>
            <a:r>
              <a:rPr lang="en-US" dirty="0">
                <a:latin typeface="Times New Roman" panose="02020603050405020304" pitchFamily="18" charset="0"/>
                <a:cs typeface="Times New Roman" panose="02020603050405020304" pitchFamily="18" charset="0"/>
              </a:rPr>
              <a:t>Architecture</a:t>
            </a:r>
            <a:endParaRPr lang="en-IN" dirty="0">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11B9AC8C-4070-C3A4-9406-1A93FCEB4E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418898"/>
            <a:ext cx="9774621" cy="5439102"/>
          </a:xfrm>
        </p:spPr>
      </p:pic>
    </p:spTree>
    <p:extLst>
      <p:ext uri="{BB962C8B-B14F-4D97-AF65-F5344CB8AC3E}">
        <p14:creationId xmlns:p14="http://schemas.microsoft.com/office/powerpoint/2010/main" val="1466192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4418-2DAD-D7A8-E574-992D0FE0814B}"/>
              </a:ext>
            </a:extLst>
          </p:cNvPr>
          <p:cNvSpPr>
            <a:spLocks noGrp="1"/>
          </p:cNvSpPr>
          <p:nvPr>
            <p:ph type="title"/>
          </p:nvPr>
        </p:nvSpPr>
        <p:spPr>
          <a:xfrm>
            <a:off x="677334" y="609600"/>
            <a:ext cx="8596668" cy="683172"/>
          </a:xfrm>
        </p:spPr>
        <p:txBody>
          <a:bodyPr/>
          <a:lstStyle/>
          <a:p>
            <a:r>
              <a:rPr lang="en-US" b="1" dirty="0">
                <a:latin typeface="Times New Roman" panose="02020603050405020304" pitchFamily="18" charset="0"/>
                <a:cs typeface="Times New Roman" panose="02020603050405020304" pitchFamily="18" charset="0"/>
              </a:rPr>
              <a:t>Module Description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A7550B5-A093-7CDE-11E3-69512B051241}"/>
              </a:ext>
            </a:extLst>
          </p:cNvPr>
          <p:cNvSpPr>
            <a:spLocks noGrp="1"/>
          </p:cNvSpPr>
          <p:nvPr>
            <p:ph idx="1"/>
          </p:nvPr>
        </p:nvSpPr>
        <p:spPr>
          <a:xfrm>
            <a:off x="677334" y="1292772"/>
            <a:ext cx="8596668" cy="4955627"/>
          </a:xfrm>
        </p:spPr>
        <p:txBody>
          <a:bodyPr>
            <a:normAutofit fontScale="25000" lnSpcReduction="20000"/>
          </a:bodyPr>
          <a:lstStyle/>
          <a:p>
            <a:pPr marL="0" indent="0" algn="just">
              <a:buNone/>
            </a:pPr>
            <a:r>
              <a:rPr lang="en-US" sz="7200" b="1" dirty="0">
                <a:latin typeface="Times New Roman" panose="02020603050405020304" pitchFamily="18" charset="0"/>
                <a:cs typeface="Times New Roman" panose="02020603050405020304" pitchFamily="18" charset="0"/>
              </a:rPr>
              <a:t>1. Client-Side (User View)</a:t>
            </a:r>
          </a:p>
          <a:p>
            <a:pPr marL="0" indent="0" algn="just">
              <a:buNone/>
            </a:pPr>
            <a:r>
              <a:rPr lang="en-US" sz="7200" b="1" dirty="0">
                <a:latin typeface="Times New Roman" panose="02020603050405020304" pitchFamily="18" charset="0"/>
                <a:cs typeface="Times New Roman" panose="02020603050405020304" pitchFamily="18" charset="0"/>
              </a:rPr>
              <a:t>Sleep Disorder Prediction App:</a:t>
            </a:r>
            <a:r>
              <a:rPr lang="en-US" sz="7200" dirty="0">
                <a:latin typeface="Times New Roman" panose="02020603050405020304" pitchFamily="18" charset="0"/>
                <a:cs typeface="Times New Roman" panose="02020603050405020304" pitchFamily="18" charset="0"/>
              </a:rPr>
              <a:t> This is the frontend interface where users input their health data (Sleep Duration, Heart Rate, Stress Level, BMI, Age).</a:t>
            </a:r>
          </a:p>
          <a:p>
            <a:pPr marL="0" indent="0" algn="just">
              <a:buNone/>
            </a:pPr>
            <a:r>
              <a:rPr lang="en-US" sz="7200" b="1" dirty="0">
                <a:latin typeface="Times New Roman" panose="02020603050405020304" pitchFamily="18" charset="0"/>
                <a:cs typeface="Times New Roman" panose="02020603050405020304" pitchFamily="18" charset="0"/>
              </a:rPr>
              <a:t>Display Prediction:</a:t>
            </a:r>
            <a:r>
              <a:rPr lang="en-US" sz="7200" dirty="0">
                <a:latin typeface="Times New Roman" panose="02020603050405020304" pitchFamily="18" charset="0"/>
                <a:cs typeface="Times New Roman" panose="02020603050405020304" pitchFamily="18" charset="0"/>
              </a:rPr>
              <a:t> Once the backend processes the data, this module shows the final results back to the user on their device.</a:t>
            </a:r>
          </a:p>
          <a:p>
            <a:pPr marL="0" indent="0" algn="just">
              <a:buNone/>
            </a:pPr>
            <a:r>
              <a:rPr lang="en-US" sz="7200" b="1" dirty="0">
                <a:latin typeface="Times New Roman" panose="02020603050405020304" pitchFamily="18" charset="0"/>
                <a:cs typeface="Times New Roman" panose="02020603050405020304" pitchFamily="18" charset="0"/>
              </a:rPr>
              <a:t>2. Communication &amp; Processing</a:t>
            </a:r>
          </a:p>
          <a:p>
            <a:pPr marL="0" indent="0" algn="just">
              <a:buNone/>
            </a:pPr>
            <a:r>
              <a:rPr lang="en-US" sz="7200" b="1" dirty="0">
                <a:latin typeface="Times New Roman" panose="02020603050405020304" pitchFamily="18" charset="0"/>
                <a:cs typeface="Times New Roman" panose="02020603050405020304" pitchFamily="18" charset="0"/>
              </a:rPr>
              <a:t>API Gateway:</a:t>
            </a:r>
            <a:r>
              <a:rPr lang="en-US" sz="7200" dirty="0">
                <a:latin typeface="Times New Roman" panose="02020603050405020304" pitchFamily="18" charset="0"/>
                <a:cs typeface="Times New Roman" panose="02020603050405020304" pitchFamily="18" charset="0"/>
              </a:rPr>
              <a:t> Acts as the entry point that manages the "User Input" requests and routes them to the server logic.</a:t>
            </a:r>
          </a:p>
          <a:p>
            <a:pPr marL="0" indent="0" algn="just">
              <a:buNone/>
            </a:pPr>
            <a:r>
              <a:rPr lang="en-US" sz="7200" b="1" dirty="0">
                <a:latin typeface="Times New Roman" panose="02020603050405020304" pitchFamily="18" charset="0"/>
                <a:cs typeface="Times New Roman" panose="02020603050405020304" pitchFamily="18" charset="0"/>
              </a:rPr>
              <a:t>Backend Framework:</a:t>
            </a:r>
            <a:r>
              <a:rPr lang="en-US" sz="7200" dirty="0">
                <a:latin typeface="Times New Roman" panose="02020603050405020304" pitchFamily="18" charset="0"/>
                <a:cs typeface="Times New Roman" panose="02020603050405020304" pitchFamily="18" charset="0"/>
              </a:rPr>
              <a:t> The core server environment (like Node.js/Express) that coordinates data flow between the gateway and the machine learning engine.</a:t>
            </a:r>
          </a:p>
          <a:p>
            <a:pPr marL="0" indent="0" algn="just">
              <a:buNone/>
            </a:pPr>
            <a:r>
              <a:rPr lang="en-US" sz="7200" b="1" dirty="0">
                <a:latin typeface="Times New Roman" panose="02020603050405020304" pitchFamily="18" charset="0"/>
                <a:cs typeface="Times New Roman" panose="02020603050405020304" pitchFamily="18" charset="0"/>
              </a:rPr>
              <a:t>3. Ensemble Prediction Engine</a:t>
            </a:r>
          </a:p>
          <a:p>
            <a:pPr marL="0" indent="0" algn="just">
              <a:buNone/>
            </a:pPr>
            <a:r>
              <a:rPr lang="en-US" sz="7200" b="1" dirty="0">
                <a:latin typeface="Times New Roman" panose="02020603050405020304" pitchFamily="18" charset="0"/>
                <a:cs typeface="Times New Roman" panose="02020603050405020304" pitchFamily="18" charset="0"/>
              </a:rPr>
              <a:t>Base Models (KNN, SVM, Random Forest):</a:t>
            </a:r>
            <a:r>
              <a:rPr lang="en-US" sz="7200" dirty="0">
                <a:latin typeface="Times New Roman" panose="02020603050405020304" pitchFamily="18" charset="0"/>
                <a:cs typeface="Times New Roman" panose="02020603050405020304" pitchFamily="18" charset="0"/>
              </a:rPr>
              <a:t> These three individual algorithms analyze the user data simultaneously to make their own independent predictions.</a:t>
            </a:r>
          </a:p>
          <a:p>
            <a:pPr marL="0" indent="0" algn="just">
              <a:buNone/>
            </a:pPr>
            <a:r>
              <a:rPr lang="en-US" sz="7200" b="1" dirty="0">
                <a:latin typeface="Times New Roman" panose="02020603050405020304" pitchFamily="18" charset="0"/>
                <a:cs typeface="Times New Roman" panose="02020603050405020304" pitchFamily="18" charset="0"/>
              </a:rPr>
              <a:t>Stacking/Voting Classifier:</a:t>
            </a:r>
            <a:r>
              <a:rPr lang="en-US" sz="7200" dirty="0">
                <a:latin typeface="Times New Roman" panose="02020603050405020304" pitchFamily="18" charset="0"/>
                <a:cs typeface="Times New Roman" panose="02020603050405020304" pitchFamily="18" charset="0"/>
              </a:rPr>
              <a:t> This module combines the outputs from the three base models and applies a "voting" or "stacking" logic to determine the most accurate final prediction.</a:t>
            </a:r>
          </a:p>
          <a:p>
            <a:pPr marL="0" indent="0" algn="just">
              <a:buNone/>
            </a:pPr>
            <a:r>
              <a:rPr lang="en-US" sz="7200" b="1" dirty="0">
                <a:latin typeface="Times New Roman" panose="02020603050405020304" pitchFamily="18" charset="0"/>
                <a:cs typeface="Times New Roman" panose="02020603050405020304" pitchFamily="18" charset="0"/>
              </a:rPr>
              <a:t>Prediction:</a:t>
            </a:r>
            <a:r>
              <a:rPr lang="en-US" sz="7200" dirty="0">
                <a:latin typeface="Times New Roman" panose="02020603050405020304" pitchFamily="18" charset="0"/>
                <a:cs typeface="Times New Roman" panose="02020603050405020304" pitchFamily="18" charset="0"/>
              </a:rPr>
              <a:t> The final output (e.g., Healthy, Insomnia, or Sleep Apnea) generated by the ensemble process.</a:t>
            </a:r>
          </a:p>
          <a:p>
            <a:pPr marL="0" indent="0">
              <a:buNone/>
            </a:pPr>
            <a:endParaRPr lang="en-US" sz="55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US" dirty="0"/>
          </a:p>
          <a:p>
            <a:pPr marL="0" indent="0">
              <a:buNone/>
            </a:pPr>
            <a:endParaRPr lang="en-US" dirty="0"/>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102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B23DF-DC2B-CB4E-0FE9-EEB5A6CE843E}"/>
              </a:ext>
            </a:extLst>
          </p:cNvPr>
          <p:cNvSpPr>
            <a:spLocks noGrp="1"/>
          </p:cNvSpPr>
          <p:nvPr>
            <p:ph type="title"/>
          </p:nvPr>
        </p:nvSpPr>
        <p:spPr>
          <a:xfrm>
            <a:off x="677334" y="609600"/>
            <a:ext cx="8596668" cy="982717"/>
          </a:xfrm>
        </p:spPr>
        <p:txBody>
          <a:bodyPr/>
          <a:lstStyle/>
          <a:p>
            <a:r>
              <a:rPr lang="en-US" dirty="0"/>
              <a:t>Cont..</a:t>
            </a:r>
            <a:endParaRPr lang="en-IN" dirty="0"/>
          </a:p>
        </p:txBody>
      </p:sp>
      <p:sp>
        <p:nvSpPr>
          <p:cNvPr id="3" name="Content Placeholder 2">
            <a:extLst>
              <a:ext uri="{FF2B5EF4-FFF2-40B4-BE49-F238E27FC236}">
                <a16:creationId xmlns:a16="http://schemas.microsoft.com/office/drawing/2014/main" id="{427F3555-0BFC-A79B-5926-DAED5E873DF2}"/>
              </a:ext>
            </a:extLst>
          </p:cNvPr>
          <p:cNvSpPr>
            <a:spLocks noGrp="1"/>
          </p:cNvSpPr>
          <p:nvPr>
            <p:ph idx="1"/>
          </p:nvPr>
        </p:nvSpPr>
        <p:spPr>
          <a:xfrm>
            <a:off x="677334" y="1592317"/>
            <a:ext cx="8596668" cy="4449045"/>
          </a:xfrm>
        </p:spPr>
        <p:txBody>
          <a:bodyPr/>
          <a:lstStyle/>
          <a:p>
            <a:pPr marL="0" indent="0">
              <a:buNone/>
            </a:pPr>
            <a:r>
              <a:rPr lang="en-US" b="1" dirty="0">
                <a:latin typeface="Times New Roman" panose="02020603050405020304" pitchFamily="18" charset="0"/>
                <a:cs typeface="Times New Roman" panose="02020603050405020304" pitchFamily="18" charset="0"/>
              </a:rPr>
              <a:t>4. Data Storage &amp; Management</a:t>
            </a:r>
          </a:p>
          <a:p>
            <a:pPr marL="0" indent="0">
              <a:buNone/>
            </a:pPr>
            <a:r>
              <a:rPr lang="en-US" b="1" dirty="0">
                <a:latin typeface="Times New Roman" panose="02020603050405020304" pitchFamily="18" charset="0"/>
                <a:cs typeface="Times New Roman" panose="02020603050405020304" pitchFamily="18" charset="0"/>
              </a:rPr>
              <a:t>Prediction Results Database:</a:t>
            </a:r>
            <a:r>
              <a:rPr lang="en-US" dirty="0">
                <a:latin typeface="Times New Roman" panose="02020603050405020304" pitchFamily="18" charset="0"/>
                <a:cs typeface="Times New Roman" panose="02020603050405020304" pitchFamily="18" charset="0"/>
              </a:rPr>
              <a:t> A central storage where all </a:t>
            </a:r>
            <a:r>
              <a:rPr lang="en-US" dirty="0" err="1">
                <a:latin typeface="Times New Roman" panose="02020603050405020304" pitchFamily="18" charset="0"/>
                <a:cs typeface="Times New Roman" panose="02020603050405020304" pitchFamily="18" charset="0"/>
              </a:rPr>
              <a:t>analysed</a:t>
            </a:r>
            <a:r>
              <a:rPr lang="en-US" dirty="0">
                <a:latin typeface="Times New Roman" panose="02020603050405020304" pitchFamily="18" charset="0"/>
                <a:cs typeface="Times New Roman" panose="02020603050405020304" pitchFamily="18" charset="0"/>
              </a:rPr>
              <a:t> reports are saved for future reference.</a:t>
            </a:r>
          </a:p>
          <a:p>
            <a:pPr marL="0" indent="0">
              <a:buNone/>
            </a:pPr>
            <a:r>
              <a:rPr lang="en-US" b="1" dirty="0">
                <a:latin typeface="Times New Roman" panose="02020603050405020304" pitchFamily="18" charset="0"/>
                <a:cs typeface="Times New Roman" panose="02020603050405020304" pitchFamily="18" charset="0"/>
              </a:rPr>
              <a:t>Admin Dashboard:</a:t>
            </a:r>
            <a:r>
              <a:rPr lang="en-US" dirty="0">
                <a:latin typeface="Times New Roman" panose="02020603050405020304" pitchFamily="18" charset="0"/>
                <a:cs typeface="Times New Roman" panose="02020603050405020304" pitchFamily="18" charset="0"/>
              </a:rPr>
              <a:t> A separate interface that pulls data from the database, allowing healthcare providers or administrators to view all patient reports and take action.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52164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BDB81-CA2A-61BF-1344-6BD73E1151F8}"/>
              </a:ext>
            </a:extLst>
          </p:cNvPr>
          <p:cNvSpPr>
            <a:spLocks noGrp="1"/>
          </p:cNvSpPr>
          <p:nvPr>
            <p:ph type="title"/>
          </p:nvPr>
        </p:nvSpPr>
        <p:spPr>
          <a:xfrm>
            <a:off x="504497" y="283779"/>
            <a:ext cx="8769505" cy="835573"/>
          </a:xfrm>
        </p:spPr>
        <p:txBody>
          <a:bodyPr/>
          <a:lstStyle/>
          <a:p>
            <a:r>
              <a:rPr lang="en-US" b="1" dirty="0">
                <a:latin typeface="Times New Roman" panose="02020603050405020304" pitchFamily="18" charset="0"/>
                <a:cs typeface="Times New Roman" panose="02020603050405020304" pitchFamily="18" charset="0"/>
              </a:rPr>
              <a:t>Hardware and Software Requirements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DCD78B-FAAD-D432-B382-5501B2FECE88}"/>
              </a:ext>
            </a:extLst>
          </p:cNvPr>
          <p:cNvSpPr>
            <a:spLocks noGrp="1"/>
          </p:cNvSpPr>
          <p:nvPr>
            <p:ph idx="1"/>
          </p:nvPr>
        </p:nvSpPr>
        <p:spPr>
          <a:xfrm>
            <a:off x="504497" y="1119352"/>
            <a:ext cx="8769505" cy="5738647"/>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Hardware Requirements:</a:t>
            </a:r>
          </a:p>
          <a:p>
            <a:pPr marL="0" indent="0">
              <a:buNone/>
            </a:pPr>
            <a:r>
              <a:rPr lang="en-US" dirty="0">
                <a:latin typeface="Times New Roman" panose="02020603050405020304" pitchFamily="18" charset="0"/>
                <a:cs typeface="Times New Roman" panose="02020603050405020304" pitchFamily="18" charset="0"/>
              </a:rPr>
              <a:t>Processor			-	Intel Core i3</a:t>
            </a:r>
          </a:p>
          <a:p>
            <a:pPr marL="0" indent="0">
              <a:buNone/>
            </a:pPr>
            <a:r>
              <a:rPr lang="en-US" dirty="0">
                <a:latin typeface="Times New Roman" panose="02020603050405020304" pitchFamily="18" charset="0"/>
                <a:cs typeface="Times New Roman" panose="02020603050405020304" pitchFamily="18" charset="0"/>
              </a:rPr>
              <a:t>RAM			- 	Minimum 8GB</a:t>
            </a:r>
          </a:p>
          <a:p>
            <a:pPr marL="0" indent="0">
              <a:buNone/>
            </a:pPr>
            <a:r>
              <a:rPr lang="en-US" dirty="0">
                <a:latin typeface="Times New Roman" panose="02020603050405020304" pitchFamily="18" charset="0"/>
                <a:cs typeface="Times New Roman" panose="02020603050405020304" pitchFamily="18" charset="0"/>
              </a:rPr>
              <a:t>Storage			-	Minimum 256 GB SSD</a:t>
            </a:r>
          </a:p>
          <a:p>
            <a:pPr marL="0" indent="0">
              <a:buNone/>
            </a:pPr>
            <a:r>
              <a:rPr lang="en-US" dirty="0">
                <a:latin typeface="Times New Roman" panose="02020603050405020304" pitchFamily="18" charset="0"/>
                <a:cs typeface="Times New Roman" panose="02020603050405020304" pitchFamily="18" charset="0"/>
              </a:rPr>
              <a:t>Mobile Device		-	Android Smartphone with a minimum of 2GB RAM, 50-100 MB      </a:t>
            </a:r>
          </a:p>
          <a:p>
            <a:pPr marL="0" indent="0">
              <a:buNone/>
            </a:pPr>
            <a:r>
              <a:rPr lang="en-US" dirty="0">
                <a:latin typeface="Times New Roman" panose="02020603050405020304" pitchFamily="18" charset="0"/>
                <a:cs typeface="Times New Roman" panose="02020603050405020304" pitchFamily="18" charset="0"/>
              </a:rPr>
              <a:t>                                         Storage</a:t>
            </a:r>
          </a:p>
          <a:p>
            <a:pPr marL="0" indent="0">
              <a:buNone/>
            </a:pPr>
            <a:r>
              <a:rPr lang="en-US" sz="2400" b="1" dirty="0">
                <a:latin typeface="Times New Roman" panose="02020603050405020304" pitchFamily="18" charset="0"/>
                <a:cs typeface="Times New Roman" panose="02020603050405020304" pitchFamily="18" charset="0"/>
              </a:rPr>
              <a:t>Software Requirements:</a:t>
            </a:r>
          </a:p>
          <a:p>
            <a:pPr marL="0" indent="0">
              <a:buNone/>
            </a:pPr>
            <a:r>
              <a:rPr lang="en-US" dirty="0">
                <a:latin typeface="Times New Roman" panose="02020603050405020304" pitchFamily="18" charset="0"/>
                <a:cs typeface="Times New Roman" panose="02020603050405020304" pitchFamily="18" charset="0"/>
              </a:rPr>
              <a:t>Operating System		 -	Windows 11</a:t>
            </a:r>
          </a:p>
          <a:p>
            <a:pPr marL="0" indent="0">
              <a:buNone/>
            </a:pPr>
            <a:r>
              <a:rPr lang="en-US" dirty="0">
                <a:latin typeface="Times New Roman" panose="02020603050405020304" pitchFamily="18" charset="0"/>
                <a:cs typeface="Times New Roman" panose="02020603050405020304" pitchFamily="18" charset="0"/>
              </a:rPr>
              <a:t>Programming Language  -	Python 3.x,HTML,CSS,JavaScript</a:t>
            </a:r>
          </a:p>
          <a:p>
            <a:pPr marL="0" indent="0">
              <a:buNone/>
            </a:pPr>
            <a:r>
              <a:rPr lang="en-US" dirty="0">
                <a:latin typeface="Times New Roman" panose="02020603050405020304" pitchFamily="18" charset="0"/>
                <a:cs typeface="Times New Roman" panose="02020603050405020304" pitchFamily="18" charset="0"/>
              </a:rPr>
              <a:t>Libraries				 -	NumPy, Pandas, Scikit-learn</a:t>
            </a:r>
          </a:p>
          <a:p>
            <a:pPr marL="0" indent="0">
              <a:buNone/>
            </a:pPr>
            <a:r>
              <a:rPr lang="en-US" dirty="0">
                <a:latin typeface="Times New Roman" panose="02020603050405020304" pitchFamily="18" charset="0"/>
                <a:cs typeface="Times New Roman" panose="02020603050405020304" pitchFamily="18" charset="0"/>
              </a:rPr>
              <a:t>IDE					 -	VS Studio</a:t>
            </a:r>
          </a:p>
          <a:p>
            <a:pPr marL="0" indent="0">
              <a:buNone/>
            </a:pPr>
            <a:r>
              <a:rPr lang="en-US" dirty="0">
                <a:latin typeface="Times New Roman" panose="02020603050405020304" pitchFamily="18" charset="0"/>
                <a:cs typeface="Times New Roman" panose="02020603050405020304" pitchFamily="18" charset="0"/>
              </a:rPr>
              <a:t>Database				 -	JSON </a:t>
            </a:r>
          </a:p>
          <a:p>
            <a:pPr marL="0" indent="0">
              <a:buNone/>
            </a:pPr>
            <a:r>
              <a:rPr lang="en-IN" dirty="0">
                <a:latin typeface="Times New Roman" panose="02020603050405020304" pitchFamily="18" charset="0"/>
                <a:cs typeface="Times New Roman" panose="02020603050405020304" pitchFamily="18" charset="0"/>
              </a:rPr>
              <a:t>Deployment Platform      -      Render </a:t>
            </a:r>
          </a:p>
          <a:p>
            <a:pPr marL="0" indent="0">
              <a:buNone/>
            </a:pPr>
            <a:r>
              <a:rPr lang="en-IN" dirty="0">
                <a:latin typeface="Times New Roman" panose="02020603050405020304" pitchFamily="18" charset="0"/>
                <a:cs typeface="Times New Roman" panose="02020603050405020304" pitchFamily="18" charset="0"/>
              </a:rPr>
              <a:t>Mobile Conversion Tool  -      </a:t>
            </a:r>
            <a:r>
              <a:rPr lang="en-IN" dirty="0" err="1">
                <a:latin typeface="Times New Roman" panose="02020603050405020304" pitchFamily="18" charset="0"/>
                <a:cs typeface="Times New Roman" panose="02020603050405020304" pitchFamily="18" charset="0"/>
              </a:rPr>
              <a:t>AppsGeyser</a:t>
            </a:r>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962222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D9F1B-25E1-6279-81A4-A79DA462416D}"/>
              </a:ext>
            </a:extLst>
          </p:cNvPr>
          <p:cNvSpPr>
            <a:spLocks noGrp="1"/>
          </p:cNvSpPr>
          <p:nvPr>
            <p:ph type="title"/>
          </p:nvPr>
        </p:nvSpPr>
        <p:spPr>
          <a:xfrm>
            <a:off x="441434" y="204952"/>
            <a:ext cx="8832568" cy="461665"/>
          </a:xfrm>
        </p:spPr>
        <p:txBody>
          <a:bodyPr>
            <a:normAutofit fontScale="90000"/>
          </a:bodyPr>
          <a:lstStyle/>
          <a:p>
            <a:r>
              <a:rPr lang="en-US" dirty="0">
                <a:latin typeface="Times New Roman" panose="02020603050405020304" pitchFamily="18" charset="0"/>
                <a:cs typeface="Times New Roman" panose="02020603050405020304" pitchFamily="18" charset="0"/>
              </a:rPr>
              <a:t>UML Diagrams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4F8DF40-08D9-FFF7-3E7E-D554F22A29A8}"/>
              </a:ext>
            </a:extLst>
          </p:cNvPr>
          <p:cNvSpPr txBox="1"/>
          <p:nvPr/>
        </p:nvSpPr>
        <p:spPr>
          <a:xfrm>
            <a:off x="441433" y="867103"/>
            <a:ext cx="622738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Use Case Diagram </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A317248-C380-87E2-515E-611ED829F5C0}"/>
              </a:ext>
            </a:extLst>
          </p:cNvPr>
          <p:cNvSpPr txBox="1"/>
          <p:nvPr/>
        </p:nvSpPr>
        <p:spPr>
          <a:xfrm>
            <a:off x="3168869" y="6416567"/>
            <a:ext cx="3121572"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1-Use Case Diagram</a:t>
            </a:r>
            <a:endParaRPr lang="en-IN" sz="1600"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3C61EDAE-8413-FE62-AB10-A936420A1B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4207" y="1529254"/>
            <a:ext cx="5754414" cy="4512771"/>
          </a:xfrm>
        </p:spPr>
      </p:pic>
    </p:spTree>
    <p:extLst>
      <p:ext uri="{BB962C8B-B14F-4D97-AF65-F5344CB8AC3E}">
        <p14:creationId xmlns:p14="http://schemas.microsoft.com/office/powerpoint/2010/main" val="72769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7DE8633-C9C0-EEC0-753D-6A6CAA077C6F}"/>
              </a:ext>
            </a:extLst>
          </p:cNvPr>
          <p:cNvSpPr txBox="1"/>
          <p:nvPr/>
        </p:nvSpPr>
        <p:spPr>
          <a:xfrm rot="10800000" flipV="1">
            <a:off x="299545" y="379064"/>
            <a:ext cx="579644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Class Diagram</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9742F8E-751C-F0EB-A578-296DA9FDA1CF}"/>
              </a:ext>
            </a:extLst>
          </p:cNvPr>
          <p:cNvSpPr txBox="1"/>
          <p:nvPr/>
        </p:nvSpPr>
        <p:spPr>
          <a:xfrm>
            <a:off x="4004441" y="6478936"/>
            <a:ext cx="222293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      Fig 2-Class Diagram</a:t>
            </a:r>
            <a:endParaRPr lang="en-IN" sz="16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4A62BD4C-13A6-215F-E5E4-64900727BF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7559" y="1229710"/>
            <a:ext cx="8860219" cy="4934607"/>
          </a:xfrm>
        </p:spPr>
      </p:pic>
    </p:spTree>
    <p:extLst>
      <p:ext uri="{BB962C8B-B14F-4D97-AF65-F5344CB8AC3E}">
        <p14:creationId xmlns:p14="http://schemas.microsoft.com/office/powerpoint/2010/main" val="3532504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2D77D51-0FE0-80BE-0C36-91300123A9D8}"/>
              </a:ext>
            </a:extLst>
          </p:cNvPr>
          <p:cNvSpPr txBox="1"/>
          <p:nvPr/>
        </p:nvSpPr>
        <p:spPr>
          <a:xfrm>
            <a:off x="504497" y="520262"/>
            <a:ext cx="498350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Activity Diagram</a:t>
            </a:r>
            <a:endParaRPr lang="en-I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F6903CC-4454-1F3B-E7F6-46C421320DB6}"/>
              </a:ext>
            </a:extLst>
          </p:cNvPr>
          <p:cNvSpPr txBox="1"/>
          <p:nvPr/>
        </p:nvSpPr>
        <p:spPr>
          <a:xfrm>
            <a:off x="3594537" y="6305574"/>
            <a:ext cx="2380593"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3-Activity Diagram</a:t>
            </a:r>
            <a:endParaRPr lang="en-IN" sz="1600"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375AECED-F2AC-EDCF-159F-9132E75A8D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6251" y="1167023"/>
            <a:ext cx="5486400" cy="4953454"/>
          </a:xfrm>
        </p:spPr>
      </p:pic>
    </p:spTree>
    <p:extLst>
      <p:ext uri="{BB962C8B-B14F-4D97-AF65-F5344CB8AC3E}">
        <p14:creationId xmlns:p14="http://schemas.microsoft.com/office/powerpoint/2010/main" val="4141880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94DCBAB-A83F-3A4B-403B-777FD7AA22B6}"/>
              </a:ext>
            </a:extLst>
          </p:cNvPr>
          <p:cNvSpPr txBox="1"/>
          <p:nvPr/>
        </p:nvSpPr>
        <p:spPr>
          <a:xfrm>
            <a:off x="110359" y="504497"/>
            <a:ext cx="617070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Sequence Diagram</a:t>
            </a:r>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F3A01A4-BCB7-C422-6099-1756A729D741}"/>
              </a:ext>
            </a:extLst>
          </p:cNvPr>
          <p:cNvSpPr txBox="1"/>
          <p:nvPr/>
        </p:nvSpPr>
        <p:spPr>
          <a:xfrm>
            <a:off x="3925614" y="6353503"/>
            <a:ext cx="2695903"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4-Sequence Diagram</a:t>
            </a:r>
            <a:endParaRPr lang="en-IN" sz="1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47058EA3-61E7-3CCA-7D7E-698AEE783F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2857" y="1233714"/>
            <a:ext cx="8868229" cy="5007429"/>
          </a:xfrm>
        </p:spPr>
      </p:pic>
    </p:spTree>
    <p:extLst>
      <p:ext uri="{BB962C8B-B14F-4D97-AF65-F5344CB8AC3E}">
        <p14:creationId xmlns:p14="http://schemas.microsoft.com/office/powerpoint/2010/main" val="2676842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060A-F0EA-F15B-41BC-19558043E032}"/>
              </a:ext>
            </a:extLst>
          </p:cNvPr>
          <p:cNvSpPr>
            <a:spLocks noGrp="1"/>
          </p:cNvSpPr>
          <p:nvPr>
            <p:ph type="title"/>
          </p:nvPr>
        </p:nvSpPr>
        <p:spPr>
          <a:xfrm>
            <a:off x="173421" y="609600"/>
            <a:ext cx="9100581" cy="840828"/>
          </a:xfrm>
        </p:spPr>
        <p:txBody>
          <a:bodyPr/>
          <a:lstStyle/>
          <a:p>
            <a:r>
              <a:rPr lang="en-US" dirty="0"/>
              <a:t>Outputs</a:t>
            </a:r>
            <a:endParaRPr lang="en-IN" dirty="0"/>
          </a:p>
        </p:txBody>
      </p:sp>
      <p:pic>
        <p:nvPicPr>
          <p:cNvPr id="5" name="Content Placeholder 4">
            <a:extLst>
              <a:ext uri="{FF2B5EF4-FFF2-40B4-BE49-F238E27FC236}">
                <a16:creationId xmlns:a16="http://schemas.microsoft.com/office/drawing/2014/main" id="{4B0C9DE8-87BD-8ACA-FD3D-28AEEB104D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450428"/>
            <a:ext cx="9853448" cy="5407572"/>
          </a:xfrm>
        </p:spPr>
      </p:pic>
    </p:spTree>
    <p:extLst>
      <p:ext uri="{BB962C8B-B14F-4D97-AF65-F5344CB8AC3E}">
        <p14:creationId xmlns:p14="http://schemas.microsoft.com/office/powerpoint/2010/main" val="2503290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BA1F0-C0E3-A93D-81EE-33699E260E1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C2C1FF6-BAA3-FE0E-74CC-2BD5B63830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09600"/>
            <a:ext cx="9743090" cy="6248400"/>
          </a:xfrm>
        </p:spPr>
      </p:pic>
    </p:spTree>
    <p:extLst>
      <p:ext uri="{BB962C8B-B14F-4D97-AF65-F5344CB8AC3E}">
        <p14:creationId xmlns:p14="http://schemas.microsoft.com/office/powerpoint/2010/main" val="3354807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14D6-1C7E-4813-4A25-F312EC71E03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451BCEE-84DD-8627-3992-A50710D9D9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124" y="609600"/>
            <a:ext cx="9285890" cy="6248400"/>
          </a:xfrm>
        </p:spPr>
      </p:pic>
    </p:spTree>
    <p:extLst>
      <p:ext uri="{BB962C8B-B14F-4D97-AF65-F5344CB8AC3E}">
        <p14:creationId xmlns:p14="http://schemas.microsoft.com/office/powerpoint/2010/main" val="3418788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F3D20-2952-2E12-5E79-8A098F65849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28F3D7F-68B7-28AC-A3A2-5A829E4A9F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890" y="609600"/>
            <a:ext cx="9443544" cy="6248400"/>
          </a:xfrm>
        </p:spPr>
      </p:pic>
    </p:spTree>
    <p:extLst>
      <p:ext uri="{BB962C8B-B14F-4D97-AF65-F5344CB8AC3E}">
        <p14:creationId xmlns:p14="http://schemas.microsoft.com/office/powerpoint/2010/main" val="742873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47148-0A16-2A87-14FE-730030975A0F}"/>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AE13C040-939D-34AE-49A3-D837F680B47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E33A4C0-C866-E99A-3D2E-678D9D383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5" y="502632"/>
            <a:ext cx="8858551" cy="5745768"/>
          </a:xfrm>
          <a:prstGeom prst="rect">
            <a:avLst/>
          </a:prstGeom>
        </p:spPr>
      </p:pic>
    </p:spTree>
    <p:extLst>
      <p:ext uri="{BB962C8B-B14F-4D97-AF65-F5344CB8AC3E}">
        <p14:creationId xmlns:p14="http://schemas.microsoft.com/office/powerpoint/2010/main" val="3241587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5B09D-4957-F09B-09C6-37AE2757B177}"/>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CE6ECC21-835D-A1A6-C54E-BD8A4D032C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09600"/>
            <a:ext cx="9521371" cy="6248400"/>
          </a:xfrm>
        </p:spPr>
      </p:pic>
    </p:spTree>
    <p:extLst>
      <p:ext uri="{BB962C8B-B14F-4D97-AF65-F5344CB8AC3E}">
        <p14:creationId xmlns:p14="http://schemas.microsoft.com/office/powerpoint/2010/main" val="413472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22C2B-EECB-D81F-5217-0E309431D6B0}"/>
              </a:ext>
            </a:extLst>
          </p:cNvPr>
          <p:cNvSpPr>
            <a:spLocks noGrp="1"/>
          </p:cNvSpPr>
          <p:nvPr>
            <p:ph type="title"/>
          </p:nvPr>
        </p:nvSpPr>
        <p:spPr/>
        <p:txBody>
          <a:bodyPr/>
          <a:lstStyle/>
          <a:p>
            <a:endParaRPr lang="en-IN"/>
          </a:p>
        </p:txBody>
      </p:sp>
      <p:sp>
        <p:nvSpPr>
          <p:cNvPr id="4" name="Content Placeholder 3">
            <a:extLst>
              <a:ext uri="{FF2B5EF4-FFF2-40B4-BE49-F238E27FC236}">
                <a16:creationId xmlns:a16="http://schemas.microsoft.com/office/drawing/2014/main" id="{C71F8A09-593A-370F-FE56-DF93D239EAA0}"/>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650627DD-1736-FBB4-BE99-BA5757A20F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334" y="609600"/>
            <a:ext cx="9806735" cy="6248400"/>
          </a:xfrm>
          <a:prstGeom prst="rect">
            <a:avLst/>
          </a:prstGeom>
        </p:spPr>
      </p:pic>
    </p:spTree>
    <p:extLst>
      <p:ext uri="{BB962C8B-B14F-4D97-AF65-F5344CB8AC3E}">
        <p14:creationId xmlns:p14="http://schemas.microsoft.com/office/powerpoint/2010/main" val="1969469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4B846-633B-C52D-637A-5E8DE219796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7AC02BD-A5A2-E9AF-58FA-FA8B47FB73FA}"/>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8FEAE0BF-3D0E-7D25-94AB-81627C6686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334" y="609600"/>
            <a:ext cx="9522956" cy="5535281"/>
          </a:xfrm>
          <a:prstGeom prst="rect">
            <a:avLst/>
          </a:prstGeom>
        </p:spPr>
      </p:pic>
    </p:spTree>
    <p:extLst>
      <p:ext uri="{BB962C8B-B14F-4D97-AF65-F5344CB8AC3E}">
        <p14:creationId xmlns:p14="http://schemas.microsoft.com/office/powerpoint/2010/main" val="287658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FB26B-8828-BC96-0A96-4C05A81ED0E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11713107-470A-D8CC-5142-748AEC1AEFB7}"/>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18A92C41-0717-21A6-CD97-0D9049E9EC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7333" y="609600"/>
            <a:ext cx="9144583" cy="5431762"/>
          </a:xfrm>
          <a:prstGeom prst="rect">
            <a:avLst/>
          </a:prstGeom>
        </p:spPr>
      </p:pic>
    </p:spTree>
    <p:extLst>
      <p:ext uri="{BB962C8B-B14F-4D97-AF65-F5344CB8AC3E}">
        <p14:creationId xmlns:p14="http://schemas.microsoft.com/office/powerpoint/2010/main" val="3582173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1C1C1-3A4D-6E95-2F04-C12707A7E95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1C13DB4-C319-D575-6441-07EEB7A3F1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09600"/>
            <a:ext cx="9459310" cy="6248400"/>
          </a:xfrm>
        </p:spPr>
      </p:pic>
    </p:spTree>
    <p:extLst>
      <p:ext uri="{BB962C8B-B14F-4D97-AF65-F5344CB8AC3E}">
        <p14:creationId xmlns:p14="http://schemas.microsoft.com/office/powerpoint/2010/main" val="27532026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CE1C7-2CA0-41B5-89BB-E42B5BE21559}"/>
              </a:ext>
            </a:extLst>
          </p:cNvPr>
          <p:cNvSpPr>
            <a:spLocks noGrp="1"/>
          </p:cNvSpPr>
          <p:nvPr>
            <p:ph type="title"/>
          </p:nvPr>
        </p:nvSpPr>
        <p:spPr>
          <a:xfrm>
            <a:off x="677334" y="609600"/>
            <a:ext cx="8596668" cy="885371"/>
          </a:xfrm>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EF43F98-ED46-266E-64D9-3EE551F0369D}"/>
              </a:ext>
            </a:extLst>
          </p:cNvPr>
          <p:cNvSpPr>
            <a:spLocks noGrp="1"/>
          </p:cNvSpPr>
          <p:nvPr>
            <p:ph idx="1"/>
          </p:nvPr>
        </p:nvSpPr>
        <p:spPr>
          <a:xfrm>
            <a:off x="677334" y="1698171"/>
            <a:ext cx="8596668" cy="4343191"/>
          </a:xfrm>
        </p:spPr>
        <p:txBody>
          <a:bodyPr/>
          <a:lstStyle/>
          <a:p>
            <a:pPr marL="0" indent="0" algn="just">
              <a:buNone/>
            </a:pPr>
            <a:r>
              <a:rPr lang="en-US" dirty="0">
                <a:latin typeface="Times New Roman" panose="02020603050405020304" pitchFamily="18" charset="0"/>
                <a:cs typeface="Times New Roman" panose="02020603050405020304" pitchFamily="18" charset="0"/>
              </a:rPr>
              <a:t>	This project develops an efficient system for predicting sleep disorders using an ensemble learning approach that combines multiple machine learning models, such as KNN, SVM, and Random Forest. This project develops an efficient system for predicting sleep disorders using an ensemble learning approach that combines multiple machine learning models such as KNN, SVM and Random Forest. By applying Voting Classifier, the system improves prediction stability and overall reliability compared to individual models. This project develops an efficient system for predicting sleep disorders using an ensemble learning approach that combines multiple machine learning models such as KNN, SVM and  Random Forest. By applying Voting Classifier, the system improves prediction stability and overall reliability compared to individual models. Additionally, the system has been extended into a mobile application to enhance accessibility, real-time monitoring, user engagement, and personalized health tracking, making the solution more practical and user-friendly in real-world scenarios.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21879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79E7C-7CEE-5D49-7B07-9A5BE01932E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BB12C0-4965-5862-7A2C-BC0192328889}"/>
              </a:ext>
            </a:extLst>
          </p:cNvPr>
          <p:cNvSpPr>
            <a:spLocks noGrp="1"/>
          </p:cNvSpPr>
          <p:nvPr>
            <p:ph idx="1"/>
          </p:nvPr>
        </p:nvSpPr>
        <p:spPr>
          <a:xfrm>
            <a:off x="677334" y="1489587"/>
            <a:ext cx="8596668" cy="4551775"/>
          </a:xfrm>
        </p:spPr>
        <p:txBody>
          <a:bodyPr/>
          <a:lstStyle/>
          <a:p>
            <a:pPr marL="0" indent="0" algn="just">
              <a:buNone/>
            </a:pPr>
            <a:r>
              <a:rPr lang="en-IN" dirty="0">
                <a:latin typeface="Times New Roman" panose="02020603050405020304" pitchFamily="18" charset="0"/>
                <a:cs typeface="Times New Roman" panose="02020603050405020304" pitchFamily="18" charset="0"/>
              </a:rPr>
              <a:t>[1] Zhang, J., Zhang, W., &amp; Hu, Y. (2021). Automatic Sleep Stage Classification Based on Time-Frequency Images of Single-Channel EEG Signals. IEEE Transactions on Neural Systems and Rehabilitation Engineering, 29, 1234-1244.</a:t>
            </a:r>
          </a:p>
          <a:p>
            <a:pPr marL="0" indent="0" algn="just">
              <a:buNone/>
            </a:pPr>
            <a:r>
              <a:rPr lang="en-IN" dirty="0">
                <a:latin typeface="Times New Roman" panose="02020603050405020304" pitchFamily="18" charset="0"/>
                <a:cs typeface="Times New Roman" panose="02020603050405020304" pitchFamily="18" charset="0"/>
              </a:rPr>
              <a:t>[2 Wang, Y., Li, J., &amp; Zhang, X. (2020). Sleep Disorder Detection and Classification Using Multimodal Physiological Signals. IEEE Journal of Biomedical and Health.</a:t>
            </a:r>
          </a:p>
          <a:p>
            <a:pPr marL="0" indent="0" algn="just">
              <a:buNone/>
            </a:pPr>
            <a:r>
              <a:rPr lang="en-IN" dirty="0">
                <a:latin typeface="Times New Roman" panose="02020603050405020304" pitchFamily="18" charset="0"/>
                <a:cs typeface="Times New Roman" panose="02020603050405020304" pitchFamily="18" charset="0"/>
              </a:rPr>
              <a:t>[3] Zhao, H. Y., Liu, Y. X., &amp; Li, S. Q. (2019). An Improved Random Forest Algorithm for Sleep Disorder Classification. BioMed Research International, 2019.</a:t>
            </a:r>
          </a:p>
          <a:p>
            <a:pPr marL="0" indent="0" algn="just">
              <a:buNone/>
            </a:pPr>
            <a:r>
              <a:rPr lang="en-IN" dirty="0">
                <a:latin typeface="Times New Roman" panose="02020603050405020304" pitchFamily="18" charset="0"/>
                <a:cs typeface="Times New Roman" panose="02020603050405020304" pitchFamily="18" charset="0"/>
              </a:rPr>
              <a:t>[4] Park, S. H., Kim, S. W., &amp; Lee, J. M. (2020). Application of Deep Learning Algorithms in Sleep Disorder Classification Using Polysomnographic Data. Journal of Sleep Research, 29(4), e12839.</a:t>
            </a:r>
          </a:p>
          <a:p>
            <a:pPr marL="0" indent="0" algn="just">
              <a:buNone/>
            </a:pPr>
            <a:r>
              <a:rPr lang="en-IN" dirty="0">
                <a:latin typeface="Times New Roman" panose="02020603050405020304" pitchFamily="18" charset="0"/>
                <a:cs typeface="Times New Roman" panose="02020603050405020304" pitchFamily="18" charset="0"/>
              </a:rPr>
              <a:t>[5] Alves, L. L., Vieira, M. A., &amp; De Oliveira, J. R. F. (2019). Machine Learning Techniques for Sleep Disorder Diagnosis. Procedia Computer Science, 162, 423-430.</a:t>
            </a:r>
          </a:p>
          <a:p>
            <a:pPr marL="0" indent="0">
              <a:buNone/>
            </a:pPr>
            <a:endParaRPr lang="en-IN" dirty="0"/>
          </a:p>
        </p:txBody>
      </p:sp>
    </p:spTree>
    <p:extLst>
      <p:ext uri="{BB962C8B-B14F-4D97-AF65-F5344CB8AC3E}">
        <p14:creationId xmlns:p14="http://schemas.microsoft.com/office/powerpoint/2010/main" val="26205337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resentation Ending Thank You Slide Template - SlideKit">
            <a:extLst>
              <a:ext uri="{FF2B5EF4-FFF2-40B4-BE49-F238E27FC236}">
                <a16:creationId xmlns:a16="http://schemas.microsoft.com/office/drawing/2014/main" id="{3160E974-6F79-194F-0E88-289E8390C3F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26657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6191</TotalTime>
  <Words>2154</Words>
  <Application>Microsoft Office PowerPoint</Application>
  <PresentationFormat>Widescreen</PresentationFormat>
  <Paragraphs>115</Paragraphs>
  <Slides>30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Times New Roman</vt:lpstr>
      <vt:lpstr>Trebuchet MS</vt:lpstr>
      <vt:lpstr>Wingdings</vt:lpstr>
      <vt:lpstr>Wingdings 3</vt:lpstr>
      <vt:lpstr>Facet</vt:lpstr>
      <vt:lpstr>DEPARTMENT OF COMPUTER SCIENCE AND ENGINEERING  SCHOOL OF ENGINEERING AND TECHNOLOGY    SRI PADMAVATI MAHILA VISVAVIDYALAYAM </vt:lpstr>
      <vt:lpstr>Contents</vt:lpstr>
      <vt:lpstr>Abstract</vt:lpstr>
      <vt:lpstr>Introduction</vt:lpstr>
      <vt:lpstr>Literature Survey</vt:lpstr>
      <vt:lpstr>Cont..</vt:lpstr>
      <vt:lpstr>Cont..</vt:lpstr>
      <vt:lpstr>Existing System</vt:lpstr>
      <vt:lpstr>Proposed System</vt:lpstr>
      <vt:lpstr>Architecture</vt:lpstr>
      <vt:lpstr>Module Description</vt:lpstr>
      <vt:lpstr>Cont..</vt:lpstr>
      <vt:lpstr>Hardware and Software Requirements</vt:lpstr>
      <vt:lpstr>UML Diagrams</vt:lpstr>
      <vt:lpstr>PowerPoint Presentation</vt:lpstr>
      <vt:lpstr>PowerPoint Presentation</vt:lpstr>
      <vt:lpstr>PowerPoint Presentation</vt:lpstr>
      <vt:lpstr>Outputs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Peram Bhargavi</dc:creator>
  <cp:lastModifiedBy>Peram Bhargavi</cp:lastModifiedBy>
  <cp:revision>54</cp:revision>
  <dcterms:created xsi:type="dcterms:W3CDTF">2025-07-29T13:14:32Z</dcterms:created>
  <dcterms:modified xsi:type="dcterms:W3CDTF">2026-04-28T12:58:34Z</dcterms:modified>
</cp:coreProperties>
</file>